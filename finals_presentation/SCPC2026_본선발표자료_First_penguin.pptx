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[15초] 한 문장 소개: 반복 배달 주문에서 '기억 관리'가 왜 어려운 문제인지로 바로 진입.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[45초] C1 대응: claim이 사전 등록·동결됐음을 명시. '기억이 많을수록 좋다'가 아니라는 문제 재정의가 이 Mission의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[45초] 흐름 6단계를 왼→오로 짚고, '왜 모바일인가'는 중단·재개 문장 하나로 요약. 가치 3개는 이후 검증 슬라이드와 연결됨을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[60초] 이 슬라이드가 Mission의 뼈대. 4개 인과 지점을 정확히 말하기 — '기억이 이어진다'가 아니라 '앞의 결정이 뒤의 판단 범위를 바꾼다'로 표현.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[30초] 화면 나열이 아니라 '기억 저장의 3관문'이 포인트 — 모든 기억은 사용자 승인 게이트를 통과한다. 데모 영상 장면과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[45초] C2 대응: '자격의 타입화'가 설계의 전부이고 연산은 2개뿐 — 불필요한 복잡성이 없음을 명시적으로 주장.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[45초] repair 4종은 E3·E4와 1:1 대응. 마지막 상자는 C4(unseen surface)와 연결되는 복선 — V1 변형 결과를 미리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[40초] 질의응답 방어의 핵심 슬라이드. 'Probe용 별도 로직이 없다'와 'export 무결성 검사'를 강조 — C5에서 어떤 파일을 열어도 같은 상태임을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[30초] E4·데모 영상의 restart 장면과 연결. '이 process 종료' 메뉴로 현장에서도 즉시 재현 가능함을 언급 (Q&amp;A 대비).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[30초] 표는 훑고, 아래 두 상자를 또박또박: '외부로 나가는 경로가 물리적으로 없다'가 결론. RUNTIME_IDENTITY의 cumulative_invocations=0이 증거.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[90초] 배점이 가장 큰 축(C3). '무엇이 같고 무엇만 다른가'를 정확히 말하고, VIL의 불인정 규칙(안전 위반은 편의로 안 침)을 강조. 실측 수치를 확보하면 이 슬라이드에 숫자를 넣을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[60초] 왼쪽 표의 4개 판단(WAIT/CONFIRMED_COMPLETE/ABSTAIN/tombstone)은 심사 중 재현 요청이 올 수 있는 부분 — step 번호(08·10·11·07+09)까지 기억해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[45초] C5 대응. 왼쪽 3건은 '실패를 어떻게 구조로 바꿨나'의 스토리로, 오른쪽 한계는 먼저 말해서 Q&amp;A 주도권을 가져올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[45초] 차별점 3개는 '주장'이 아니라 모두 앞 슬라이드의 검증과 연결됨을 언급. 향후 개선의 LM 결합은 'core 계약 유지'가 핵심 — 확률적 생성이 판단 경계를 침범하지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[15초] 핵심 문장 하나로 마무리하고 Q&amp;A로. 질문이 오면 해당 artifact(화면·export·테스트)를 특정해서 답할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E8543F"/>
                </a:solidFill>
                <a:latin typeface="Malgun Gothic"/>
                <a:ea typeface="Malgun Gothic"/>
              </a:rPr>
              <a:t>2026 SCPC : AI 챌린지  ·  본선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Malgun Gothic"/>
                <a:ea typeface="Malgun Gothic"/>
              </a:rPr>
              <a:t>개인 배달 주문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D8E1EE"/>
                </a:solidFill>
                <a:latin typeface="Malgun Gothic"/>
                <a:ea typeface="Malgun Gothic"/>
              </a:rPr>
              <a:t>유효하고, 허용된 기억만 재사용한다</a:t>
            </a:r>
          </a:p>
          <a:p>
            <a:pPr algn="l">
              <a:buNone/>
            </a:pPr>
            <a:r>
              <a:rPr sz="1600" b="0" i="0">
                <a:solidFill>
                  <a:srgbClr val="9AA7BC"/>
                </a:solidFill>
                <a:latin typeface="Malgun Gothic"/>
                <a:ea typeface="Malgun Gothic"/>
              </a:rPr>
              <a:t>반복 배달 주문을 최소한의 확인으로 완성하는 온디바이스 에이전트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>
              <a:buNone/>
            </a:pPr>
            <a:r>
              <a:rPr sz="1250" b="1" i="0">
                <a:solidFill>
                  <a:srgbClr val="D8E1EE"/>
                </a:solidFill>
                <a:latin typeface="Malgun Gothic"/>
                <a:ea typeface="Malgun Gothic"/>
              </a:rPr>
              <a:t>ASPR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4846320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>
              <a:buNone/>
            </a:pPr>
            <a:r>
              <a:rPr sz="1250" b="1" i="0">
                <a:solidFill>
                  <a:srgbClr val="D8E1EE"/>
                </a:solidFill>
                <a:latin typeface="Malgun Gothic"/>
                <a:ea typeface="Malgun Gothic"/>
              </a:rPr>
              <a:t>Production Parity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84632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>
              <a:buNone/>
            </a:pPr>
            <a:r>
              <a:rPr sz="1250" b="1" i="0">
                <a:solidFill>
                  <a:srgbClr val="D8E1EE"/>
                </a:solidFill>
                <a:latin typeface="Malgun Gothic"/>
                <a:ea typeface="Malgun Gothic"/>
              </a:rPr>
              <a:t>Evidence 무결성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B97AB"/>
                </a:solidFill>
                <a:latin typeface="Malgun Gothic"/>
                <a:ea typeface="Malgun Gothic"/>
              </a:rPr>
              <a:t>First_penguin   ·   발표 10분  +  질의응답 10분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01 · MISSION 개요  ·  C1 문제·효과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반복 주문은 편해야 하지만, 오래된 기억은 위험하다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E8543F"/>
                </a:solidFill>
                <a:latin typeface="Malgun Gothic"/>
                <a:ea typeface="Malgun Gothic"/>
              </a:rPr>
              <a:t>문제 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577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0" i="0">
                <a:solidFill>
                  <a:srgbClr val="26303F"/>
                </a:solidFill>
                <a:latin typeface="Malgun Gothic"/>
                <a:ea typeface="Malgun Gothic"/>
              </a:rPr>
              <a:t>비슷한 취향과 조건으로 배달 주문을 반복하는 개인 사용자는 주문 때마다 맵기, 수저, 옵션 같은 질문에 처음부터 다시 답해야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577840" cy="2514600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 bIns="91440"/>
          <a:lstStyle/>
          <a:p>
            <a:pPr algn="l">
              <a:spcAft>
                <a:spcPts val="700"/>
              </a:spcAft>
              <a:buNone/>
            </a:pPr>
            <a:r>
              <a:rPr sz="1400" b="1" i="0">
                <a:solidFill>
                  <a:srgbClr val="B8402E"/>
                </a:solidFill>
                <a:latin typeface="Malgun Gothic"/>
                <a:ea typeface="Malgun Gothic"/>
              </a:rPr>
              <a:t>“기억이 많을수록 편리하다” 는 성립하지 않는다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200" b="0" i="0">
                <a:solidFill>
                  <a:srgbClr val="26303F"/>
                </a:solidFill>
                <a:latin typeface="Malgun Gothic"/>
                <a:ea typeface="Malgun Gothic"/>
              </a:rPr>
              <a:t>주문마다 달라지는 조건 (예산, 희망시간)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200" b="0" i="0">
                <a:solidFill>
                  <a:srgbClr val="26303F"/>
                </a:solidFill>
                <a:latin typeface="Malgun Gothic"/>
                <a:ea typeface="Malgun Gothic"/>
              </a:rPr>
              <a:t>식당마다 다른 메뉴와 옵션 구조</a:t>
            </a:r>
          </a:p>
          <a:p>
            <a:pPr algn="l" indent="-164592" marL="164592">
              <a:spcAft>
                <a:spcPts val="7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200" b="0" i="0">
                <a:solidFill>
                  <a:srgbClr val="26303F"/>
                </a:solidFill>
                <a:latin typeface="Malgun Gothic"/>
                <a:ea typeface="Malgun Gothic"/>
              </a:rPr>
              <a:t>누적되는 사용자의 정정·철회·삭제</a:t>
            </a:r>
          </a:p>
          <a:p>
            <a:pPr algn="l">
              <a:buNone/>
            </a:pPr>
            <a:r>
              <a:rPr sz="1300" b="1" i="0">
                <a:solidFill>
                  <a:srgbClr val="26303F"/>
                </a:solidFill>
                <a:latin typeface="Malgun Gothic"/>
                <a:ea typeface="Malgun Gothic"/>
              </a:rPr>
              <a:t>→ 오래된 기억은 오히려 잘못된 자동화를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E8543F"/>
                </a:solidFill>
                <a:latin typeface="Malgun Gothic"/>
                <a:ea typeface="Malgun Gothic"/>
              </a:rPr>
              <a:t>대상 사용자와 핵심 문제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737360"/>
            <a:ext cx="4937760" cy="141732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91440"/>
          <a:lstStyle/>
          <a:p>
            <a:pPr algn="l" indent="-164592" marL="164592">
              <a:spcAft>
                <a:spcPts val="5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200" b="0" i="0">
                <a:solidFill>
                  <a:srgbClr val="26303F"/>
                </a:solidFill>
                <a:latin typeface="Malgun Gothic"/>
                <a:ea typeface="Malgun Gothic"/>
              </a:rPr>
              <a:t>대상 — 같은 앱에서 주문을 반복하는 개인 사용자</a:t>
            </a:r>
          </a:p>
          <a:p>
            <a:pPr algn="l" indent="-164592" marL="164592">
              <a:spcAft>
                <a:spcPts val="5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200" b="0" i="0">
                <a:solidFill>
                  <a:srgbClr val="26303F"/>
                </a:solidFill>
                <a:latin typeface="Malgun Gothic"/>
                <a:ea typeface="Malgun Gothic"/>
              </a:rPr>
              <a:t>핵심 문제 — 반복 입력 부담과 잘못된 자동 적용 사이의 긴장</a:t>
            </a:r>
          </a:p>
          <a:p>
            <a:pPr algn="l" indent="-164592" marL="164592">
              <a:buClr>
                <a:srgbClr val="E8543F"/>
              </a:buClr>
              <a:buSzPct val="90000"/>
              <a:buFont typeface="Arial"/>
              <a:buChar char="•"/>
            </a:pPr>
            <a:r>
              <a:rPr sz="1200" b="0" i="0">
                <a:solidFill>
                  <a:srgbClr val="26303F"/>
                </a:solidFill>
                <a:latin typeface="Malgun Gothic"/>
                <a:ea typeface="Malgun Gothic"/>
              </a:rPr>
              <a:t>전제 — 앱 중단, 조건 변화, 철회가 일상적으로 발생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310128"/>
            <a:ext cx="4937760" cy="1947672"/>
          </a:xfrm>
          <a:prstGeom prst="roundRect">
            <a:avLst>
              <a:gd name="adj" fmla="val 7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46304" bIns="91440"/>
          <a:lstStyle/>
          <a:p>
            <a:pPr algn="l">
              <a:spcAft>
                <a:spcPts val="700"/>
              </a:spcAft>
              <a:buNone/>
            </a:pPr>
            <a:r>
              <a:rPr sz="1150" b="1" i="0">
                <a:solidFill>
                  <a:srgbClr val="E8543F"/>
                </a:solidFill>
                <a:latin typeface="Malgun Gothic"/>
                <a:ea typeface="Malgun Gothic"/>
              </a:rPr>
              <a:t>Primary Value (7/31 Mission 선언으로 동결된 claim)</a:t>
            </a:r>
          </a:p>
          <a:p>
            <a:pPr algn="l">
              <a:lnSpc>
                <a:spcPct val="128000"/>
              </a:lnSpc>
              <a:spcAft>
                <a:spcPts val="30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</a:rPr>
              <a:t>현재도 유효하고 자동 적용이 허용된 취향만 재사용한다.</a:t>
            </a:r>
          </a:p>
          <a:p>
            <a:pPr algn="l">
              <a:lnSpc>
                <a:spcPct val="128000"/>
              </a:lnSpc>
              <a:buNone/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</a:rPr>
              <a:t>반복 입력은 줄이고, 불확실하거나 권한이 없는 값은 다시 확인한다.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050" b="0" i="0">
                <a:solidFill>
                  <a:srgbClr val="66707E"/>
                </a:solidFill>
                <a:latin typeface="Malgun Gothic"/>
                <a:ea typeface="Malgun Gothic"/>
              </a:rPr>
              <a:t>대상 사용자·핵심 문제·장기 목표·Primary value·E1-E4 인과는 Mission 선언 시점에 동결 — 발표 내용은 제출물과 동일한 claim이다.  |  모든 식당·메뉴·주문·평가는 앱 안의 합성 데이터 (실제 주문·결제·외부 전송 없음)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MISSION_LOCK.json (SAMPLE_EXPORT 동봉) · MISSION_AND_TECHNICAL_NOTE §1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02 · AGENT / APP 설계 의도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채팅과 주문서가 한 화면에서 이어진다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자연어로</a:t>
            </a:r>
          </a:p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조건 요청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54580" y="1865376"/>
            <a:ext cx="146304" cy="182880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14600" y="1481328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후보 식당·메뉴</a:t>
            </a:r>
          </a:p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제시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29100" y="1865376"/>
            <a:ext cx="146304" cy="182880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481328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</a:rPr>
              <a:t>주문서 자동 채움</a:t>
            </a:r>
          </a:p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</a:rPr>
              <a:t>(출처·범위 표시)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03620" y="1865376"/>
            <a:ext cx="146304" cy="182880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481328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최소 확인 후</a:t>
            </a:r>
          </a:p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가상 주문 확정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78140" y="1865376"/>
            <a:ext cx="146304" cy="182880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481328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지연 도착하는</a:t>
            </a:r>
          </a:p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평가 요청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52660" y="1865376"/>
            <a:ext cx="146304" cy="182880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12680" y="1481328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</a:rPr>
              <a:t>승인한 기억만</a:t>
            </a:r>
          </a:p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</a:rPr>
              <a:t>다음 주문에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E8543F"/>
                </a:solidFill>
                <a:latin typeface="Malgun Gothic"/>
                <a:ea typeface="Malgun Gothic"/>
              </a:rPr>
              <a:t>모바일 환경에서 동작해야 하는 이유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72384"/>
            <a:ext cx="5577840" cy="2331720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46304" bIns="91440"/>
          <a:lstStyle/>
          <a:p>
            <a:pPr algn="l">
              <a:lnSpc>
                <a:spcPct val="120000"/>
              </a:lnSpc>
              <a:spcAft>
                <a:spcPts val="700"/>
              </a:spcAft>
              <a:buNone/>
            </a:pPr>
            <a:r>
              <a:rPr sz="1300" b="1" i="0">
                <a:solidFill>
                  <a:srgbClr val="B8402E"/>
                </a:solidFill>
                <a:latin typeface="Malgun Gothic"/>
                <a:ea typeface="Malgun Gothic"/>
              </a:rPr>
              <a:t>핵심은 작은 화면이 아니라 짧은 상호작용 사이의 중단과 재개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200" b="0" i="0">
                <a:solidFill>
                  <a:srgbClr val="26303F"/>
                </a:solidFill>
                <a:latin typeface="Malgun Gothic"/>
                <a:ea typeface="Malgun Gothic"/>
              </a:rPr>
              <a:t>주문을 구성하다 앱을 떠나고, process가 종료된다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200" b="0" i="0">
                <a:solidFill>
                  <a:srgbClr val="26303F"/>
                </a:solidFill>
                <a:latin typeface="Malgun Gothic"/>
                <a:ea typeface="Malgun Gothic"/>
              </a:rPr>
              <a:t>평가 요청은 주문이 끝난 뒤 늦게 도착한다</a:t>
            </a:r>
          </a:p>
          <a:p>
            <a:pPr algn="l" indent="-164592" marL="164592">
              <a:spcAft>
                <a:spcPts val="7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200" b="0" i="0">
                <a:solidFill>
                  <a:srgbClr val="26303F"/>
                </a:solidFill>
                <a:latin typeface="Malgun Gothic"/>
                <a:ea typeface="Malgun Gothic"/>
              </a:rPr>
              <a:t>다음 주문에서 과거의 선택·철회를 다시 만난다</a:t>
            </a:r>
          </a:p>
          <a:p>
            <a:pPr algn="l">
              <a:lnSpc>
                <a:spcPct val="120000"/>
              </a:lnSpc>
              <a:buNone/>
            </a:pPr>
            <a:r>
              <a:rPr sz="1300" b="1" i="0">
                <a:solidFill>
                  <a:srgbClr val="26303F"/>
                </a:solidFill>
                <a:latin typeface="Malgun Gothic"/>
                <a:ea typeface="Malgun Gothic"/>
              </a:rPr>
              <a:t>→ 이 lifecycle을 예외처리가 아닌 제품 기능으로 흡수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4320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E8543F"/>
                </a:solidFill>
                <a:latin typeface="Malgun Gothic"/>
                <a:ea typeface="Malgun Gothic"/>
              </a:rPr>
              <a:t>사용자가 얻는 핵심 가치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3182112"/>
            <a:ext cx="384048" cy="384048"/>
          </a:xfrm>
          <a:prstGeom prst="ellipse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108960"/>
            <a:ext cx="440740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350" b="1" i="0">
                <a:solidFill>
                  <a:srgbClr val="26303F"/>
                </a:solidFill>
                <a:latin typeface="Malgun Gothic"/>
                <a:ea typeface="Malgun Gothic"/>
              </a:rPr>
              <a:t>반복 부담 감소</a:t>
            </a:r>
          </a:p>
          <a:p>
            <a:pPr algn="l">
              <a:buNone/>
            </a:pPr>
            <a:r>
              <a:rPr sz="1150" b="0" i="0">
                <a:solidFill>
                  <a:srgbClr val="66707E"/>
                </a:solidFill>
                <a:latin typeface="Malgun Gothic"/>
                <a:ea typeface="Malgun Gothic"/>
              </a:rPr>
              <a:t>유효·허용된 취향이 주문서에 먼저 채워진다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959352"/>
            <a:ext cx="384048" cy="384048"/>
          </a:xfrm>
          <a:prstGeom prst="ellipse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886200"/>
            <a:ext cx="440740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350" b="1" i="0">
                <a:solidFill>
                  <a:srgbClr val="26303F"/>
                </a:solidFill>
                <a:latin typeface="Malgun Gothic"/>
                <a:ea typeface="Malgun Gothic"/>
              </a:rPr>
              <a:t>현재가 과거를 이긴다</a:t>
            </a:r>
          </a:p>
          <a:p>
            <a:pPr algn="l">
              <a:buNone/>
            </a:pPr>
            <a:r>
              <a:rPr sz="1150" b="0" i="0">
                <a:solidFill>
                  <a:srgbClr val="66707E"/>
                </a:solidFill>
                <a:latin typeface="Malgun Gothic"/>
                <a:ea typeface="Malgun Gothic"/>
              </a:rPr>
              <a:t>오늘의 지시·정정·철회가 과거 기억보다 우선한다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4736592"/>
            <a:ext cx="384048" cy="384048"/>
          </a:xfrm>
          <a:prstGeom prst="ellipse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4663440"/>
            <a:ext cx="440740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350" b="1" i="0">
                <a:solidFill>
                  <a:srgbClr val="26303F"/>
                </a:solidFill>
                <a:latin typeface="Malgun Gothic"/>
                <a:ea typeface="Malgun Gothic"/>
              </a:rPr>
              <a:t>부분 복구</a:t>
            </a:r>
          </a:p>
          <a:p>
            <a:pPr algn="l">
              <a:buNone/>
            </a:pPr>
            <a:r>
              <a:rPr sz="1150" b="0" i="0">
                <a:solidFill>
                  <a:srgbClr val="66707E"/>
                </a:solidFill>
                <a:latin typeface="Malgun Gothic"/>
                <a:ea typeface="Malgun Gothic"/>
              </a:rPr>
              <a:t>품절·미제공·중단 뒤에도 영향받은 부분만 다시 연다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MISSION_AND_TECHNICAL_NOTE §2·§7 · INSTALL_AND_USE_GUIDE §2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03 · 핵심 기능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E1 → E4 : 앞의 episode가 뒤의 판단을 바꾼다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2697480" cy="28803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91440"/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E8543F"/>
                </a:solidFill>
                <a:latin typeface="Malgun Gothic"/>
                <a:ea typeface="Malgun Gothic"/>
              </a:rPr>
              <a:t>E1  </a:t>
            </a:r>
            <a:r>
              <a:rPr sz="1600" b="1" i="0">
                <a:solidFill>
                  <a:srgbClr val="26303F"/>
                </a:solidFill>
                <a:latin typeface="Malgun Gothic"/>
                <a:ea typeface="Malgun Gothic"/>
              </a:rPr>
              <a:t>Learn</a:t>
            </a:r>
          </a:p>
          <a:p>
            <a:pPr algn="l">
              <a:lnSpc>
                <a:spcPct val="122000"/>
              </a:lnSpc>
              <a:spcAft>
                <a:spcPts val="700"/>
              </a:spcAft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마라향 실험점에서 맵기·수저·파를 정하고, 주문 뒤 고수 리뷰를 남긴다</a:t>
            </a:r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B8402E"/>
                </a:solidFill>
                <a:latin typeface="Malgun Gothic"/>
                <a:ea typeface="Malgun Gothic"/>
              </a:rPr>
              <a:t>다음 episode에 남기는 것</a:t>
            </a:r>
          </a:p>
          <a:p>
            <a:pPr algn="l">
              <a:lnSpc>
                <a:spcPct val="120000"/>
              </a:lnSpc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직접 말한 stable 취향과, 승인한 범위의 리뷰 기억 생성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323844" y="2743200"/>
            <a:ext cx="164592" cy="201168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65576" y="1444752"/>
            <a:ext cx="2697480" cy="28803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91440"/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E8543F"/>
                </a:solidFill>
                <a:latin typeface="Malgun Gothic"/>
                <a:ea typeface="Malgun Gothic"/>
              </a:rPr>
              <a:t>E2  </a:t>
            </a:r>
            <a:r>
              <a:rPr sz="1600" b="1" i="0">
                <a:solidFill>
                  <a:srgbClr val="26303F"/>
                </a:solidFill>
                <a:latin typeface="Malgun Gothic"/>
                <a:ea typeface="Malgun Gothic"/>
              </a:rPr>
              <a:t>Reuse</a:t>
            </a:r>
          </a:p>
          <a:p>
            <a:pPr algn="l">
              <a:lnSpc>
                <a:spcPct val="122000"/>
              </a:lnSpc>
              <a:spcAft>
                <a:spcPts val="700"/>
              </a:spcAft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다른 식당(금손분식 실험점)에서 마라 메뉴와 일반 떡볶이를 함께 담는다</a:t>
            </a:r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B8402E"/>
                </a:solidFill>
                <a:latin typeface="Malgun Gothic"/>
                <a:ea typeface="Malgun Gothic"/>
              </a:rPr>
              <a:t>다음 episode에 남기는 것</a:t>
            </a:r>
          </a:p>
          <a:p>
            <a:pPr algn="l">
              <a:lnSpc>
                <a:spcPct val="120000"/>
              </a:lnSpc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전역 취향은 두 메뉴에, 고수 취향은 마라 유형에만 자동 적용 → 질문 감소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49340" y="2743200"/>
            <a:ext cx="164592" cy="201168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91072" y="1444752"/>
            <a:ext cx="2697480" cy="28803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91440"/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E8543F"/>
                </a:solidFill>
                <a:latin typeface="Malgun Gothic"/>
                <a:ea typeface="Malgun Gothic"/>
              </a:rPr>
              <a:t>E3  </a:t>
            </a:r>
            <a:r>
              <a:rPr sz="1600" b="1" i="0">
                <a:solidFill>
                  <a:srgbClr val="26303F"/>
                </a:solidFill>
                <a:latin typeface="Malgun Gothic"/>
                <a:ea typeface="Malgun Gothic"/>
              </a:rPr>
              <a:t>Exception</a:t>
            </a:r>
          </a:p>
          <a:p>
            <a:pPr algn="l">
              <a:lnSpc>
                <a:spcPct val="122000"/>
              </a:lnSpc>
              <a:spcAft>
                <a:spcPts val="700"/>
              </a:spcAft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오늘만 아주 맵게 요청, 수저 자동 적용 철회, 저장된 맵기를 중간맛으로 정정</a:t>
            </a:r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B8402E"/>
                </a:solidFill>
                <a:latin typeface="Malgun Gothic"/>
                <a:ea typeface="Malgun Gothic"/>
              </a:rPr>
              <a:t>다음 episode에 남기는 것</a:t>
            </a:r>
          </a:p>
          <a:p>
            <a:pPr algn="l">
              <a:lnSpc>
                <a:spcPct val="120000"/>
              </a:lnSpc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일회성은 이번 주문만, 철회·정정은 해당 범위의 이후 판단만 변경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74836" y="2743200"/>
            <a:ext cx="164592" cy="201168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16568" y="1444752"/>
            <a:ext cx="2697480" cy="28803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91440"/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E8543F"/>
                </a:solidFill>
                <a:latin typeface="Malgun Gothic"/>
                <a:ea typeface="Malgun Gothic"/>
              </a:rPr>
              <a:t>E4  </a:t>
            </a:r>
            <a:r>
              <a:rPr sz="1600" b="1" i="0">
                <a:solidFill>
                  <a:srgbClr val="26303F"/>
                </a:solidFill>
                <a:latin typeface="Malgun Gothic"/>
                <a:ea typeface="Malgun Gothic"/>
              </a:rPr>
              <a:t>Recover</a:t>
            </a:r>
          </a:p>
          <a:p>
            <a:pPr algn="l">
              <a:lnSpc>
                <a:spcPct val="122000"/>
              </a:lnSpc>
              <a:spcAft>
                <a:spcPts val="700"/>
              </a:spcAft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중간맛 미제공·사이드 품절을 겪은 뒤 process를 재시작한다</a:t>
            </a:r>
          </a:p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B8402E"/>
                </a:solidFill>
                <a:latin typeface="Malgun Gothic"/>
                <a:ea typeface="Malgun Gothic"/>
              </a:rPr>
              <a:t>다음 episode에 남기는 것</a:t>
            </a:r>
          </a:p>
          <a:p>
            <a:pPr algn="l">
              <a:lnSpc>
                <a:spcPct val="120000"/>
              </a:lnSpc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제공 불가·품절 항목만 다시 열리고, 다른 항목과 확정 기록은 보존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98848"/>
            <a:ext cx="10908792" cy="1691640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91440"/>
          <a:lstStyle/>
          <a:p>
            <a:pPr algn="l">
              <a:spcAft>
                <a:spcPts val="600"/>
              </a:spcAft>
              <a:buNone/>
            </a:pPr>
            <a:r>
              <a:rPr sz="1250" b="1" i="0">
                <a:solidFill>
                  <a:srgbClr val="B8402E"/>
                </a:solidFill>
                <a:latin typeface="Malgun Gothic"/>
                <a:ea typeface="Malgun Gothic"/>
              </a:rPr>
              <a:t>episode 사이의 장기 인과 4지점 — session 경계는 주문 단위, process 종료는 경계가 아니다</a:t>
            </a:r>
          </a:p>
          <a:p>
            <a:pPr algn="l" indent="-164592" marL="164592">
              <a:spcAft>
                <a:spcPts val="3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E1 고수 범위 승인 → E2 다른 식당의 마라 메뉴만 자동 채움 (일반 메뉴는 영향 없음)</a:t>
            </a:r>
          </a:p>
          <a:p>
            <a:pPr algn="l" indent="-164592" marL="164592">
              <a:spcAft>
                <a:spcPts val="3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E3 수저 권한 철회 → 이후 주문에서 수저만 다시 질문 (다른 취향 유지)</a:t>
            </a:r>
          </a:p>
          <a:p>
            <a:pPr algn="l" indent="-164592" marL="164592">
              <a:spcAft>
                <a:spcPts val="3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E3 중간맛 정정 → E4에 전달되지만 미제공 식당에서는 임의 대체하지 않고 맵기만 질문</a:t>
            </a:r>
          </a:p>
          <a:p>
            <a:pPr algn="l" indent="-164592" marL="164592"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E4 품절 event → 사이드와 총액만 무효화, 본 메뉴·다른 option·확정 action 보존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MISSION_AND_TECHNICAL_NOTE §3 · DEMO_VIDEO (E1→E4 실기기 재현) · INSTALL_AND_USE_GUIDE §4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03 · 핵심 기능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주요 화면 — 기억이 만들어지는 순간을 사용자가 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E8543F"/>
                </a:solidFill>
                <a:latin typeface="Malgun Gothic"/>
                <a:ea typeface="Malgun Gothic"/>
              </a:rPr>
              <a:t>화면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55648"/>
            <a:ext cx="5394960" cy="713232"/>
          </a:xfrm>
          <a:prstGeom prst="rect">
            <a:avLst/>
          </a:prstGeom>
          <a:solidFill>
            <a:srgbClr val="F2F4F7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828800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사용자 문장, 추천 후보, 질문·답변 칩이 시간순으로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주문서 막대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42032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항목·option·출처·금액 표시, ‘변경’ / ‘이대로 주문하기’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82112"/>
            <a:ext cx="5394960" cy="713232"/>
          </a:xfrm>
          <a:prstGeom prst="rect">
            <a:avLst/>
          </a:prstGeom>
          <a:solidFill>
            <a:srgbClr val="F2F4F7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55264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내 취향과 기억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255264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저장 값의 출처·범위·자동 적용 여부 확인, 정정·철회·삭제·전체 Reset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95344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68496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평가·내보내기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968496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공개 Probe 입력 불러오기·실행·결과와 evidence 내보내기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08576"/>
            <a:ext cx="5394960" cy="713232"/>
          </a:xfrm>
          <a:prstGeom prst="rect">
            <a:avLst/>
          </a:prstGeom>
          <a:solidFill>
            <a:srgbClr val="F2F4F7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8172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비교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681728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full / claim-off paired 시작점 생성, 두 arm의 확인 수·VIL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17320"/>
            <a:ext cx="5166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E8543F"/>
                </a:solidFill>
                <a:latin typeface="Malgun Gothic"/>
                <a:ea typeface="Malgun Gothic"/>
              </a:rPr>
              <a:t>기억이 저장되는 3가지 관문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755648"/>
            <a:ext cx="5166360" cy="969264"/>
          </a:xfrm>
          <a:prstGeom prst="roundRect">
            <a:avLst>
              <a:gd name="adj" fmla="val 7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300"/>
              </a:spcAft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값을 처음 정하면</a:t>
            </a:r>
          </a:p>
          <a:p>
            <a:pPr algn="l">
              <a:lnSpc>
                <a:spcPct val="120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‘좋아요’ / ‘이번 주문만 할래요’를 함께 제시 — 승격 여부를 사용자가 결정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834639"/>
            <a:ext cx="5166360" cy="969264"/>
          </a:xfrm>
          <a:prstGeom prst="roundRect">
            <a:avLst>
              <a:gd name="adj" fmla="val 7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300"/>
              </a:spcAft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기존 기억과 다른 값을 말하면</a:t>
            </a:r>
          </a:p>
          <a:p>
            <a:pPr algn="l">
              <a:lnSpc>
                <a:spcPct val="120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즉시 덮어쓰지 않고 적용 범위를 질문 (이번 주문 / 이 식당·메뉴 / 같은 유형 / 전역)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913631"/>
            <a:ext cx="5166360" cy="969264"/>
          </a:xfrm>
          <a:prstGeom prst="roundRect">
            <a:avLst>
              <a:gd name="adj" fmla="val 7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300"/>
              </a:spcAft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리뷰에서 취향 후보를 찾으면</a:t>
            </a:r>
          </a:p>
          <a:p>
            <a:pPr algn="l">
              <a:lnSpc>
                <a:spcPct val="120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자동 저장하지 않고 값·대상·범위를 제시, 승인한 내용만 다음 주문에 사용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029200"/>
            <a:ext cx="5166360" cy="10972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B8402E"/>
                </a:solidFill>
                <a:latin typeface="Malgun Gothic"/>
                <a:ea typeface="Malgun Gothic"/>
              </a:rPr>
              <a:t>대표 표현</a:t>
            </a:r>
          </a:p>
          <a:p>
            <a:pPr algn="l">
              <a:lnSpc>
                <a:spcPct val="125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‘앞으로도 수저 빼고’(stable) · ‘이번 주문만 아주 맵게’(one-off) · ‘일회용 수저는 앞으로 자동으로 정하지 마’(철회)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INSTALL_AND_USE_GUIDE §2·§3·§5 · DEMO_VIDEO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04 · 대표 기제 ASPR  ·  C2 mechanism 적합성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기억을 ‘권위가 붙은 사실’로 저장한다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00" b="0" i="0">
                <a:solidFill>
                  <a:srgbClr val="26303F"/>
                </a:solidFill>
                <a:latin typeface="Malgun Gothic"/>
                <a:ea typeface="Malgun Gothic"/>
              </a:rPr>
              <a:t>Authority-Scope Projection &amp; Repair — 기억은 문자열 목록이 아니라, 현재 주문서에 적용할 자격이 명시된 typed fact와 그 의존관계다.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12848"/>
            <a:ext cx="6583680" cy="548640"/>
          </a:xfrm>
          <a:prstGeom prst="rect">
            <a:avLst/>
          </a:prstGeom>
          <a:solidFill>
            <a:srgbClr val="F2F4F7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95144"/>
            <a:ext cx="1371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kind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295144"/>
            <a:ext cx="4892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stable · one-off · 권한 · 철회 · 지연 outcome 등 수명과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61488"/>
            <a:ext cx="6583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43784"/>
            <a:ext cx="1371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843784"/>
            <a:ext cx="4892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이번 주문 / 이 식당-이 메뉴 / 같은 메뉴 유형 / 전역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10128"/>
            <a:ext cx="6583680" cy="548640"/>
          </a:xfrm>
          <a:prstGeom prst="rect">
            <a:avLst/>
          </a:prstGeom>
          <a:solidFill>
            <a:srgbClr val="F2F4F7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92424"/>
            <a:ext cx="1371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392424"/>
            <a:ext cx="4892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직접 지시, 현재 정정, 승인된 리뷰 중 무엇이 최신 근거인지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58768"/>
            <a:ext cx="6583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41063"/>
            <a:ext cx="1371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permission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941063"/>
            <a:ext cx="4892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자동 적용이 허용되었는지, 철회되었는지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07407"/>
            <a:ext cx="6583680" cy="548640"/>
          </a:xfrm>
          <a:prstGeom prst="rect">
            <a:avLst/>
          </a:prstGeom>
          <a:solidFill>
            <a:srgbClr val="F2F4F7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89703"/>
            <a:ext cx="1371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lineage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489703"/>
            <a:ext cx="4892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이 fact가 만든 주문서 field·action·outcome과의 의존관계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20640"/>
            <a:ext cx="6583680" cy="100584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300"/>
              </a:spcAft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왜 이 문제에 맞고, 왜 더 복잡하지 않은가</a:t>
            </a:r>
          </a:p>
          <a:p>
            <a:pPr algn="l">
              <a:lnSpc>
                <a:spcPct val="125000"/>
              </a:lnSpc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문제의 본질이 ‘무엇을 기억하나’가 아니라 ‘지금 적용할 자격이 있나’이므로 자격을 type으로 만들었다. 연산은 projection과 repair 둘뿐이다.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8543F"/>
                </a:solidFill>
                <a:latin typeface="Malgun Gothic"/>
                <a:ea typeface="Malgun Gothic"/>
              </a:rPr>
              <a:t>scope 구체성 사다리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783080"/>
            <a:ext cx="3931920" cy="457200"/>
          </a:xfrm>
          <a:prstGeom prst="roundRect">
            <a:avLst>
              <a:gd name="adj" fmla="val 25000"/>
            </a:avLst>
          </a:prstGeom>
          <a:solidFill>
            <a:srgbClr val="B8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이번 주문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331720"/>
            <a:ext cx="3383280" cy="457200"/>
          </a:xfrm>
          <a:prstGeom prst="roundRect">
            <a:avLst>
              <a:gd name="adj" fmla="val 25000"/>
            </a:avLst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이 식당 · 이 메뉴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2880360"/>
            <a:ext cx="2834640" cy="457200"/>
          </a:xfrm>
          <a:prstGeom prst="roundRect">
            <a:avLst>
              <a:gd name="adj" fmla="val 25000"/>
            </a:avLst>
          </a:prstGeom>
          <a:solidFill>
            <a:srgbClr val="EE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같은 메뉴 유형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429000"/>
            <a:ext cx="2286000" cy="457200"/>
          </a:xfrm>
          <a:prstGeom prst="roundRect">
            <a:avLst>
              <a:gd name="adj" fmla="val 25000"/>
            </a:avLst>
          </a:prstGeom>
          <a:solidFill>
            <a:srgbClr val="F4A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전역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114800"/>
            <a:ext cx="3931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26303F"/>
                </a:solidFill>
                <a:latin typeface="Malgun Gothic"/>
                <a:ea typeface="Malgun Gothic"/>
              </a:rPr>
              <a:t>“가장 최근 값”을 고르지 않는다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150" b="0" i="0">
                <a:solidFill>
                  <a:srgbClr val="66707E"/>
                </a:solidFill>
                <a:latin typeface="Malgun Gothic"/>
                <a:ea typeface="Malgun Gothic"/>
              </a:rPr>
              <a:t>현재 entity·goal에 관련되고, 아직 유효하며, 자동 적용 권한이 있는 후보 중에서 구체성과 권위를 비교해 선택한다.</a:t>
            </a:r>
          </a:p>
          <a:p>
            <a:pPr algn="l">
              <a:lnSpc>
                <a:spcPct val="125000"/>
              </a:lnSpc>
              <a:buNone/>
            </a:pPr>
            <a:r>
              <a:rPr sz="1100" b="0" i="0">
                <a:solidFill>
                  <a:srgbClr val="66707E"/>
                </a:solidFill>
                <a:latin typeface="Malgun Gothic"/>
                <a:ea typeface="Malgun Gothic"/>
              </a:rPr>
              <a:t>예산·희망시간은 매번 달라지므로 stable로 승격하지 않는다.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MISSION_AND_TECHNICAL_NOTE §4.1 · SOURCE.zip core 모듈 (fact type 정의)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04 · 대표 기제 ASPR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Projection은 자격 검사, Repair는 선택적 무효화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8543F"/>
                </a:solidFill>
                <a:latin typeface="Malgun Gothic"/>
                <a:ea typeface="Malgun Gothic"/>
              </a:rPr>
              <a:t>Projection — 적용 가능한 fact만 주문서로 투영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19072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현재 state +</a:t>
            </a:r>
          </a:p>
          <a:p>
            <a:pPr algn="ctr">
              <a:spcAft>
                <a:spcPts val="100"/>
              </a:spcAft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menu schema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29483" y="2066543"/>
            <a:ext cx="137160" cy="173736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66644" y="1719072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entity · goal · lifetime</a:t>
            </a:r>
          </a:p>
          <a:p>
            <a:pPr algn="ctr">
              <a:spcAft>
                <a:spcPts val="100"/>
              </a:spcAft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scope · permission 필터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56047" y="2066543"/>
            <a:ext cx="137160" cy="173736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93207" y="1719072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current authority</a:t>
            </a:r>
          </a:p>
          <a:p>
            <a:pPr algn="ctr">
              <a:spcAft>
                <a:spcPts val="100"/>
              </a:spcAft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우선순위 비교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82612" y="2066543"/>
            <a:ext cx="137160" cy="173736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9771" y="1719072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주문서 field +</a:t>
            </a:r>
          </a:p>
          <a:p>
            <a:pPr algn="ctr">
              <a:spcAft>
                <a:spcPts val="100"/>
              </a:spcAft>
              <a:buNone/>
            </a:pPr>
            <a:r>
              <a:rPr sz="1050" b="1" i="0">
                <a:solidFill>
                  <a:srgbClr val="26303F"/>
                </a:solidFill>
                <a:latin typeface="Malgun Gothic"/>
                <a:ea typeface="Malgun Gothic"/>
              </a:rPr>
              <a:t>provenance 생성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09176" y="2066543"/>
            <a:ext cx="137160" cy="173736"/>
          </a:xfrm>
          <a:prstGeom prst="right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46335" y="1719072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Malgun Gothic"/>
                <a:ea typeface="Malgun Gothic"/>
              </a:rPr>
              <a:t>불확실·미제공 값</a:t>
            </a:r>
          </a:p>
          <a:p>
            <a:pPr algn="ctr">
              <a:spcAft>
                <a:spcPts val="1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Malgun Gothic"/>
                <a:ea typeface="Malgun Gothic"/>
              </a:rPr>
              <a:t>NEEDS_CONFIRMATION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52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8543F"/>
                </a:solidFill>
                <a:latin typeface="Malgun Gothic"/>
                <a:ea typeface="Malgun Gothic"/>
              </a:rPr>
              <a:t>Repair — dependency graph를 따라 파생 필드만 무효화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2670048" cy="1481328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B8402E"/>
                </a:solidFill>
                <a:latin typeface="Malgun Gothic"/>
                <a:ea typeface="Malgun Gothic"/>
              </a:rPr>
              <a:t>정정</a:t>
            </a:r>
          </a:p>
          <a:p>
            <a:pPr algn="l">
              <a:lnSpc>
                <a:spcPct val="122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같은 scope의 current authority를 새 값으로 교체하고 영향 필드만 재투영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6023" y="3200400"/>
            <a:ext cx="2670048" cy="1481328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B8402E"/>
                </a:solidFill>
                <a:latin typeface="Malgun Gothic"/>
                <a:ea typeface="Malgun Gothic"/>
              </a:rPr>
              <a:t>철회</a:t>
            </a:r>
          </a:p>
          <a:p>
            <a:pPr algn="l">
              <a:lnSpc>
                <a:spcPct val="122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값은 남기고 그 scope의 자동 적용 권한만 꺼서 다음 주문에 다시 질문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1966" y="3200400"/>
            <a:ext cx="2670048" cy="1481328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B8402E"/>
                </a:solidFill>
                <a:latin typeface="Malgun Gothic"/>
                <a:ea typeface="Malgun Gothic"/>
              </a:rPr>
              <a:t>삭제</a:t>
            </a:r>
          </a:p>
          <a:p>
            <a:pPr algn="l">
              <a:lnSpc>
                <a:spcPct val="122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fact와 descendant 제거, tombstone만 남겨 export·재시작 후 부활 차단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77909" y="3200400"/>
            <a:ext cx="2670048" cy="1481328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B8402E"/>
                </a:solidFill>
                <a:latin typeface="Malgun Gothic"/>
                <a:ea typeface="Malgun Gothic"/>
              </a:rPr>
              <a:t>품절</a:t>
            </a:r>
          </a:p>
          <a:p>
            <a:pPr algn="l">
              <a:lnSpc>
                <a:spcPct val="122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해당 line의 menu·option과 총액만 다시 열고 다른 line은 보존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37760"/>
            <a:ext cx="10908792" cy="118872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26303F"/>
                </a:solidFill>
                <a:latin typeface="Malgun Gothic"/>
                <a:ea typeface="Malgun Gothic"/>
              </a:rPr>
              <a:t>generic core는 언어·표현과 무관하다</a:t>
            </a:r>
          </a:p>
          <a:p>
            <a:pPr algn="l">
              <a:lnSpc>
                <a:spcPct val="125000"/>
              </a:lnSpc>
              <a:buNone/>
            </a:pPr>
            <a:r>
              <a:rPr sz="1100" b="0" i="0">
                <a:solidFill>
                  <a:srgbClr val="66707E"/>
                </a:solidFill>
                <a:latin typeface="Malgun Gothic"/>
                <a:ea typeface="Malgun Gothic"/>
              </a:rPr>
              <a:t>core는 한국어 문장·메뉴명으로 분기하지 않는다. 자연어 계층이 catalog 표현을 token으로 바꾸고, core는 role · scope · authority · state 전이만 처리한다 → 식당·메뉴·표현·event 순서가 바뀌어도 같은 규칙이 적용된다 (role-token 치환 변형에서 13단계 판단 동일로 확인).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MISSION_AND_TECHNICAL_NOTE §4.2·§4.3 · ScopedPreferenceTest · ReviewMemoryTest · RC1_RUN_V1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05 · 기술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Probe와 제품이 같은 core, 같은 저장소를 쓴다 — Production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2157984" cy="105156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제품 UI</a:t>
            </a:r>
          </a:p>
          <a:p>
            <a:pPr algn="ctr">
              <a:buNone/>
            </a:pP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Main · Memory ·</a:t>
            </a:r>
          </a:p>
          <a:p>
            <a:pPr algn="ctr">
              <a:buNone/>
            </a:pP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Comparison Activity</a:t>
            </a:r>
          </a:p>
        </p:txBody>
      </p:sp>
      <p:sp>
        <p:nvSpPr>
          <p:cNvPr id="6" name="Down Arrow 5"/>
          <p:cNvSpPr/>
          <p:nvPr/>
        </p:nvSpPr>
        <p:spPr>
          <a:xfrm>
            <a:off x="1627631" y="2523744"/>
            <a:ext cx="182880" cy="274320"/>
          </a:xfrm>
          <a:prstGeom prst="down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90087" y="1444752"/>
            <a:ext cx="2157984" cy="105156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공개 Probe UI</a:t>
            </a:r>
          </a:p>
          <a:p>
            <a:pPr algn="ctr">
              <a:buNone/>
            </a:pP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심사위원이 직접</a:t>
            </a:r>
          </a:p>
          <a:p>
            <a:pPr algn="ctr">
              <a:buNone/>
            </a:pP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조작 가능</a:t>
            </a:r>
          </a:p>
        </p:txBody>
      </p:sp>
      <p:sp>
        <p:nvSpPr>
          <p:cNvPr id="8" name="Down Arrow 7"/>
          <p:cNvSpPr/>
          <p:nvPr/>
        </p:nvSpPr>
        <p:spPr>
          <a:xfrm>
            <a:off x="3977639" y="2523744"/>
            <a:ext cx="182880" cy="274320"/>
          </a:xfrm>
          <a:prstGeom prst="down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40096" y="1444752"/>
            <a:ext cx="2157984" cy="105156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Protected Probe</a:t>
            </a:r>
          </a:p>
          <a:p>
            <a:pPr algn="ctr">
              <a:spcAft>
                <a:spcPts val="100"/>
              </a:spcAft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adapter</a:t>
            </a:r>
          </a:p>
          <a:p>
            <a:pPr algn="ctr">
              <a:buNone/>
            </a:pP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operation → core step</a:t>
            </a:r>
          </a:p>
          <a:p>
            <a:pPr algn="ctr">
              <a:buNone/>
            </a:pP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얇은 변환 경계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327648" y="2523744"/>
            <a:ext cx="182880" cy="274320"/>
          </a:xfrm>
          <a:prstGeom prst="down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6858000" cy="685800"/>
          </a:xfrm>
          <a:prstGeom prst="roundRect">
            <a:avLst>
              <a:gd name="adj" fmla="val 9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91440"/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Malgun Gothic"/>
                <a:ea typeface="Malgun Gothic"/>
              </a:rPr>
              <a:t>ProductionCore  —  단일 판단 경로 (Probe 전용 판단기·mock state 없음)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977639" y="3547872"/>
            <a:ext cx="182880" cy="256032"/>
          </a:xfrm>
          <a:prstGeom prst="downArrow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831336"/>
            <a:ext cx="6858000" cy="868680"/>
          </a:xfrm>
          <a:prstGeom prst="roundRect">
            <a:avLst>
              <a:gd name="adj" fmla="val 9000"/>
            </a:avLst>
          </a:prstGeom>
          <a:solidFill>
            <a:srgbClr val="35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91440"/>
          <a:lstStyle/>
          <a:p>
            <a:pPr algn="ctr"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ProductionState repository  +  EvidenceWriter</a:t>
            </a:r>
          </a:p>
          <a:p>
            <a:pPr algn="ctr">
              <a:buNone/>
            </a:pPr>
            <a:r>
              <a:rPr sz="1000" b="0" i="0">
                <a:solidFill>
                  <a:srgbClr val="D8E1EE"/>
                </a:solidFill>
                <a:latin typeface="Malgun Gothic"/>
                <a:ea typeface="Malgun Gothic"/>
              </a:rPr>
              <a:t>fact · field · session · permission · tombstone · action/outcome ledger · process epoch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685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26303F"/>
                </a:solidFill>
                <a:latin typeface="Malgun Gothic"/>
                <a:ea typeface="Malgun Gothic"/>
              </a:rPr>
              <a:t>검증 가능성</a:t>
            </a:r>
          </a:p>
          <a:p>
            <a:pPr algn="l">
              <a:lnSpc>
                <a:spcPct val="125000"/>
              </a:lnSpc>
              <a:buNone/>
            </a:pPr>
            <a:r>
              <a:rPr sz="1100" b="0" i="0">
                <a:solidFill>
                  <a:srgbClr val="66707E"/>
                </a:solidFill>
                <a:latin typeface="Malgun Gothic"/>
                <a:ea typeface="Malgun Gothic"/>
              </a:rPr>
              <a:t>EvidenceWriter가 모든 판단의 근거를 공식 contract 형태로 기록 — 화면에 보이는 상태와 export된 evidence가 같은 ledger를 가리킨다. Probe 결과의 evidence ID와 실제 파일이 일치하지 않으면 export를 성공으로 표시하지 않는다.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444752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저장 방식</a:t>
            </a:r>
          </a:p>
          <a:p>
            <a:pPr algn="l">
              <a:lnSpc>
                <a:spcPct val="120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전체 상태를 하나의 versioned 문서로 — 임시 파일 후 atomic rename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7744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재시작 조정</a:t>
            </a:r>
          </a:p>
          <a:p>
            <a:pPr algn="l">
              <a:lnSpc>
                <a:spcPct val="120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재시작 시 같은 문서를 읽어 미완료 상태 조정 — 화면·ledger·export가 같은 시점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310128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Exactly-once</a:t>
            </a:r>
          </a:p>
          <a:p>
            <a:pPr algn="l">
              <a:lnSpc>
                <a:spcPct val="120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주문 내용 기반 idempotency identity — 재시작·중복 event에도 기존 action 재사용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242816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지연 outcome</a:t>
            </a:r>
          </a:p>
          <a:p>
            <a:pPr algn="l">
              <a:lnSpc>
                <a:spcPct val="120000"/>
              </a:lnSpc>
              <a:buNone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action에 연결된 별도 ledger 항목 — 도착 전에는 완료로 표시하지 않음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MISSION_AND_TECHNICAL_NOTE §5 · ProbeParityTest · ProbeOperationContractTest · INSTALL_AND_USE_GUIDE §7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05 · 기술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중단·재개를 state transition의 일부로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27048"/>
            <a:ext cx="457200" cy="457200"/>
          </a:xfrm>
          <a:prstGeom prst="ellipse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81328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50" b="1" i="0">
                <a:solidFill>
                  <a:srgbClr val="26303F"/>
                </a:solidFill>
                <a:latin typeface="Malgun Gothic"/>
                <a:ea typeface="Malgun Gothic"/>
              </a:rPr>
              <a:t>즉시 지속화</a:t>
            </a:r>
          </a:p>
          <a:p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66707E"/>
                </a:solidFill>
                <a:latin typeface="Malgun Gothic"/>
                <a:ea typeface="Malgun Gothic"/>
              </a:rPr>
              <a:t>대화·주문서·memory를 입력 직후 app-local 저장 — 잃어버리는 입력이 없다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60904"/>
            <a:ext cx="457200" cy="457200"/>
          </a:xfrm>
          <a:prstGeom prst="ellipse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15184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50" b="1" i="0">
                <a:solidFill>
                  <a:srgbClr val="26303F"/>
                </a:solidFill>
                <a:latin typeface="Malgun Gothic"/>
                <a:ea typeface="Malgun Gothic"/>
              </a:rPr>
              <a:t>Process kill 복원</a:t>
            </a:r>
          </a:p>
          <a:p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66707E"/>
                </a:solidFill>
                <a:latin typeface="Malgun Gothic"/>
                <a:ea typeface="Malgun Gothic"/>
              </a:rPr>
              <a:t>실제 process 종료 뒤에도 같은 주문 화면과 미완료 질문을 그대로 복원 (메뉴의 ‘이 process 종료’로 직접 재현 가능)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4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50" b="1" i="0">
                <a:solidFill>
                  <a:srgbClr val="26303F"/>
                </a:solidFill>
                <a:latin typeface="Malgun Gothic"/>
                <a:ea typeface="Malgun Gothic"/>
              </a:rPr>
              <a:t>Ledger가 정본</a:t>
            </a:r>
          </a:p>
          <a:p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66707E"/>
                </a:solidFill>
                <a:latin typeface="Malgun Gothic"/>
                <a:ea typeface="Malgun Gothic"/>
              </a:rPr>
              <a:t>평가 요청의 정본을 알림이 아니라 ledger에 둠 — 알림 권한 거부에도 상태 보존, 알림은 보조 표시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928616"/>
            <a:ext cx="457200" cy="457200"/>
          </a:xfrm>
          <a:prstGeom prst="ellipse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82896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50" b="1" i="0">
                <a:solidFill>
                  <a:srgbClr val="26303F"/>
                </a:solidFill>
                <a:latin typeface="Malgun Gothic"/>
                <a:ea typeface="Malgun Gothic"/>
              </a:rPr>
              <a:t>즉시 통제</a:t>
            </a:r>
          </a:p>
          <a:p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66707E"/>
                </a:solidFill>
                <a:latin typeface="Malgun Gothic"/>
                <a:ea typeface="Malgun Gothic"/>
              </a:rPr>
              <a:t>‘내 취향과 기억’ 화면에서 출처·범위·자동 적용 확인, 정정·철회·삭제·전체 Reset 즉시 반영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481328"/>
            <a:ext cx="3913632" cy="4297680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 bIns="91440"/>
          <a:lstStyle/>
          <a:p>
            <a:pPr algn="l">
              <a:spcAft>
                <a:spcPts val="700"/>
              </a:spcAft>
              <a:buNone/>
            </a:pPr>
            <a:r>
              <a:rPr sz="1300" b="1" i="0">
                <a:solidFill>
                  <a:srgbClr val="B8402E"/>
                </a:solidFill>
                <a:latin typeface="Malgun Gothic"/>
                <a:ea typeface="Malgun Gothic"/>
              </a:rPr>
              <a:t>PC와 무엇이 다른가</a:t>
            </a:r>
          </a:p>
          <a:p>
            <a:pPr algn="l">
              <a:lnSpc>
                <a:spcPct val="130000"/>
              </a:lnSpc>
              <a:spcAft>
                <a:spcPts val="700"/>
              </a:spcAft>
              <a:buNone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PC의 ‘연속된 한 session’ 가정에서는 process death, 권한 거부, 지연 outcome, 재진입 사이의 정합성이 핵심 설계에서 빠진다.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  <a:buNone/>
            </a:pPr>
            <a:r>
              <a:rPr sz="1200" b="1" i="0">
                <a:solidFill>
                  <a:srgbClr val="26303F"/>
                </a:solidFill>
                <a:latin typeface="Malgun Gothic"/>
                <a:ea typeface="Malgun Gothic"/>
              </a:rPr>
              <a:t>이 앱은 해당 경계를 별도 예외처리가 아니라 state transition의 일부로 구현했다.</a:t>
            </a:r>
          </a:p>
          <a:p>
            <a:pPr algn="l">
              <a:lnSpc>
                <a:spcPct val="128000"/>
              </a:lnSpc>
              <a:buNone/>
            </a:pPr>
            <a:r>
              <a:rPr sz="1100" b="0" i="0">
                <a:solidFill>
                  <a:srgbClr val="66707E"/>
                </a:solidFill>
                <a:latin typeface="Malgun Gothic"/>
                <a:ea typeface="Malgun Gothic"/>
              </a:rPr>
              <a:t>session 경계 = 주문 단위. 새 주문은 새 대화·one-off 영역을 만들지만, 허용된 stable 기억과 action ledger는 이어진다. process 경계 ≠ session 경계.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MISSION_AND_TECHNICAL_NOTE §7 · DEVICE_TEST_SCRIPTS (process kill 검증) · DEMO_VIDEO restart 구간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05 · 기술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실패를 대체하지 않고, 경계에서 멈춘다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08792" cy="548640"/>
          </a:xfrm>
          <a:prstGeom prst="rect">
            <a:avLst/>
          </a:prstGeom>
          <a:solidFill>
            <a:srgbClr val="F2F4F7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3566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열린 확인이 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99616"/>
            <a:ext cx="6766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network와 무관하게 값을 묻고, action을 시작하지 않는다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9087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48255"/>
            <a:ext cx="3566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network DELAYED · UNKNOWN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48255"/>
            <a:ext cx="6766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최신 상태가 불명확하면 주문서를 보존한 채 기다린다 (WAIT)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10908792" cy="548640"/>
          </a:xfrm>
          <a:prstGeom prst="rect">
            <a:avLst/>
          </a:prstGeom>
          <a:solidFill>
            <a:srgbClr val="F2F4F7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96896"/>
            <a:ext cx="3566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network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96896"/>
            <a:ext cx="6766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유효한 cache가 없으면 중단 — 미확인 action을 완료로 만들지 않는다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09087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145536"/>
            <a:ext cx="3566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예산·시간 만족 후보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45536"/>
            <a:ext cx="6766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가능한 것처럼 대체하지 않고 ‘조건을 만족할 수 없음’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11880"/>
            <a:ext cx="10908792" cy="548640"/>
          </a:xfrm>
          <a:prstGeom prst="rect">
            <a:avLst/>
          </a:prstGeom>
          <a:solidFill>
            <a:srgbClr val="F2F4F7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694176"/>
            <a:ext cx="3566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option 미제공 · 품절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94176"/>
            <a:ext cx="6766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영향받은 field만 재확인 대상으로, 나머지는 보존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60520"/>
            <a:ext cx="109087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242816"/>
            <a:ext cx="3566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알 수 없는 자연어 표현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42816"/>
            <a:ext cx="6766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의미를 추측하거나 저장하지 않고 선택 가능한 항목을 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920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네트워크 사용과 온디바이스 범위</a:t>
            </a:r>
          </a:p>
          <a:p>
            <a:pPr algn="l">
              <a:lnSpc>
                <a:spcPct val="128000"/>
              </a:lnSpc>
              <a:buNone/>
            </a:pPr>
            <a:r>
              <a:rPr sz="1100" b="0" i="0">
                <a:solidFill>
                  <a:srgbClr val="D8E1EE"/>
                </a:solidFill>
                <a:latin typeface="Malgun Gothic"/>
                <a:ea typeface="Malgun Gothic"/>
              </a:rPr>
              <a:t>INTERNET 권한 없음 · 외부 endpoint 없음 · 온디바이스 model 없음 · inference 0회 · runtime 데이터 전송 없음 — 모든 판단·저장이 온디바이스에서 완결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8920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자연어 intake와 권한 설계</a:t>
            </a:r>
          </a:p>
          <a:p>
            <a:pPr algn="l">
              <a:lnSpc>
                <a:spcPct val="128000"/>
              </a:lnSpc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catalog authored phrase의 longest-match 결정적 parser (확장은 catalog data로) · POST_NOTIFICATIONS 선택 · ACCESS_NETWORK_STATE 표시 전용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MISSION_AND_TECHNICAL_NOTE §6·§10 · AndroidManifest (권한 3종) · OptionAvailabilityTest · RUNTIME_IDENTITY.json (invocation 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06 · 검증  ·  C3 인과 이득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같은 APK 안에서 ASPR만 껐다 켠 짝비교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91440"/>
          <a:lstStyle/>
          <a:p>
            <a:pPr algn="l">
              <a:spcAft>
                <a:spcPts val="600"/>
              </a:spcAft>
              <a:buNone/>
            </a:pPr>
            <a:r>
              <a:rPr sz="1250" b="1" i="0">
                <a:solidFill>
                  <a:srgbClr val="B8402E"/>
                </a:solidFill>
                <a:latin typeface="Malgun Gothic"/>
                <a:ea typeface="Malgun Gothic"/>
              </a:rPr>
              <a:t>비교 설계 — 차이는 오직 mechanism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동일: APK · 화면 · parser · catalog · 시작 snapshot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분리: 두 arm의 storage·evidence namespace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claim-off가 끄는 것: ASPR의 lifetime·scope·permission projection만</a:t>
            </a:r>
          </a:p>
          <a:p>
            <a:pPr algn="l" indent="-164592" marL="164592">
              <a:buClr>
                <a:srgbClr val="E8543F"/>
              </a:buClr>
              <a:buSzPct val="90000"/>
              <a:buFont typeface="Arial"/>
              <a:buChar char="•"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그대로 유지: 삭제·tombstone·idempotency·restart·안전 경계·최종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141732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91440"/>
          <a:lstStyle/>
          <a:p>
            <a:pPr algn="l">
              <a:spcAft>
                <a:spcPts val="600"/>
              </a:spcAft>
              <a:buNone/>
            </a:pPr>
            <a:r>
              <a:rPr sz="1250" b="1" i="0">
                <a:solidFill>
                  <a:srgbClr val="B8402E"/>
                </a:solidFill>
                <a:latin typeface="Malgun Gothic"/>
                <a:ea typeface="Malgun Gothic"/>
              </a:rPr>
              <a:t>지표 VIL — Valid Interaction Load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  <a:buNone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같은 유효 주문서를 완성할 때까지 사용자가 직접 해결한 확인·입력 횟수</a:t>
            </a:r>
          </a:p>
          <a:p>
            <a:pPr algn="l">
              <a:lnSpc>
                <a:spcPct val="125000"/>
              </a:lnSpc>
              <a:buNone/>
            </a:pPr>
            <a:r>
              <a:rPr sz="1150" b="1" i="0">
                <a:solidFill>
                  <a:srgbClr val="26303F"/>
                </a:solidFill>
                <a:latin typeface="Malgun Gothic"/>
                <a:ea typeface="Malgun Gothic"/>
              </a:rPr>
              <a:t>잘못된 entity 적용, 철회 무시, 미제공 option 자동 대체, 중복 action은 부담 감소로 인정하지 않는다 → 편의성 이득과 안전장치 약화를 분리해 mechanism의 인과 기여만 관찰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86200"/>
            <a:ext cx="10908792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관찰되는 차이 (E2 재사용 시나리오)</a:t>
            </a:r>
          </a:p>
          <a:p>
            <a:pPr algn="l">
              <a:lnSpc>
                <a:spcPct val="130000"/>
              </a:lnSpc>
              <a:buNone/>
            </a:pP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claim-off — 맵기·수저·파·고수를 모두 다시 질문   |   full — 유효·허용된 값만 자동 적용, 출처를 표시하고 새 option만 질문 (미제공 option은 두 arm 모두 묻지도 채우지도 않음)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08792" cy="1005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buNone/>
            </a:pPr>
            <a:r>
              <a:rPr sz="1150" b="1" i="0">
                <a:solidFill>
                  <a:srgbClr val="B8402E"/>
                </a:solidFill>
                <a:latin typeface="Malgun Gothic"/>
                <a:ea typeface="Malgun Gothic"/>
              </a:rPr>
              <a:t>현재 상태  </a:t>
            </a:r>
            <a:r>
              <a:rPr sz="1150" b="0" i="0">
                <a:solidFill>
                  <a:srgbClr val="26303F"/>
                </a:solidFill>
                <a:latin typeface="Malgun Gothic"/>
                <a:ea typeface="Malgun Gothic"/>
              </a:rPr>
              <a:t>비교 구조·앱 내 ‘비교 실행’ 화면·ClaimOffComparisonTest 완비. 기기 VIL 수치는 실측 전 — </a:t>
            </a:r>
            <a:r>
              <a:rPr sz="1150" b="1" i="0">
                <a:solidFill>
                  <a:srgbClr val="E8543F"/>
                </a:solidFill>
                <a:latin typeface="Malgun Gothic"/>
                <a:ea typeface="Malgun Gothic"/>
              </a:rPr>
              <a:t>[본선 전 실측해 full vs claim-off 수치로 교체]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MISSION_AND_TECHNICAL_NOTE §8 · ComparisonActivity (비교 실행 화면) · ClaimOffComparisonTest · ProductFlowProbeTest(E2)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06 · 검증  ·  C4 장기·변형 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같은 core가 공개 입력·변형 입력·JVM 테스트를 통과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70048" cy="1298448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200"/>
              </a:spcAft>
              <a:buNone/>
            </a:pPr>
            <a:r>
              <a:rPr sz="2400" b="1" i="0">
                <a:solidFill>
                  <a:srgbClr val="B8402E"/>
                </a:solidFill>
                <a:latin typeface="Malgun Gothic"/>
                <a:ea typeface="Malgun Gothic"/>
              </a:rPr>
              <a:t>13 / 13</a:t>
            </a:r>
          </a:p>
          <a:p>
            <a:pPr algn="ct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공개 Probe 13-step 완주</a:t>
            </a:r>
          </a:p>
          <a:p>
            <a:pPr algn="ct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(서명된 Runner 실행)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6023" y="1417320"/>
            <a:ext cx="2670048" cy="1298448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200"/>
              </a:spcAft>
              <a:buNone/>
            </a:pPr>
            <a:r>
              <a:rPr sz="2400" b="1" i="0">
                <a:solidFill>
                  <a:srgbClr val="B8402E"/>
                </a:solidFill>
                <a:latin typeface="Malgun Gothic"/>
                <a:ea typeface="Malgun Gothic"/>
              </a:rPr>
              <a:t>195</a:t>
            </a:r>
          </a:p>
          <a:p>
            <a:pPr algn="ct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JVM 테스트</a:t>
            </a:r>
          </a:p>
          <a:p>
            <a:pPr algn="ct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(debug · release 모두)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1966" y="1417320"/>
            <a:ext cx="2670048" cy="1298448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200"/>
              </a:spcAft>
              <a:buNone/>
            </a:pPr>
            <a:r>
              <a:rPr sz="2400" b="1" i="0">
                <a:solidFill>
                  <a:srgbClr val="B8402E"/>
                </a:solidFill>
                <a:latin typeface="Malgun Gothic"/>
                <a:ea typeface="Malgun Gothic"/>
              </a:rPr>
              <a:t>4</a:t>
            </a:r>
          </a:p>
          <a:p>
            <a:pPr algn="ct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서명된 독립 변형 run</a:t>
            </a:r>
          </a:p>
          <a:p>
            <a:pPr algn="ct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(치환·교환·반복·복합)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77909" y="1417320"/>
            <a:ext cx="2670048" cy="1298448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200"/>
              </a:spcAft>
              <a:buNone/>
            </a:pPr>
            <a:r>
              <a:rPr sz="2400" b="1" i="0">
                <a:solidFill>
                  <a:srgbClr val="B8402E"/>
                </a:solidFill>
                <a:latin typeface="Malgun Gothic"/>
                <a:ea typeface="Malgun Gothic"/>
              </a:rPr>
              <a:t>35 / 35</a:t>
            </a:r>
          </a:p>
          <a:p>
            <a:pPr algn="ct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result 참조 evidence ID</a:t>
            </a:r>
          </a:p>
          <a:p>
            <a:pPr algn="ct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닫힘 검사 통과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E8543F"/>
                </a:solidFill>
                <a:latin typeface="Malgun Gothic"/>
                <a:ea typeface="Malgun Gothic"/>
              </a:rPr>
              <a:t>공개 13-step에서 관찰되는 판단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73552"/>
            <a:ext cx="6766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337560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26303F"/>
                </a:solidFill>
                <a:latin typeface="Malgun Gothic"/>
                <a:ea typeface="Malgun Gothic"/>
              </a:rPr>
              <a:t>OFFLINE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37560"/>
            <a:ext cx="3794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66707E"/>
                </a:solidFill>
                <a:latin typeface="Malgun Gothic"/>
                <a:ea typeface="Malgun Gothic"/>
              </a:rPr>
              <a:t>WAIT — 미확인 action을 완료로 만들지 않음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85616"/>
            <a:ext cx="6766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849624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26303F"/>
                </a:solidFill>
                <a:latin typeface="Malgun Gothic"/>
                <a:ea typeface="Malgun Gothic"/>
              </a:rPr>
              <a:t>kill 후 같은 event 재전달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49624"/>
            <a:ext cx="3794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66707E"/>
                </a:solidFill>
                <a:latin typeface="Malgun Gothic"/>
                <a:ea typeface="Malgun Gothic"/>
              </a:rPr>
              <a:t>CONFIRMED_COMPLETE — 기존 action 재사용, 중복 없음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80"/>
            <a:ext cx="6766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361688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26303F"/>
                </a:solidFill>
                <a:latin typeface="Malgun Gothic"/>
                <a:ea typeface="Malgun Gothic"/>
              </a:rPr>
              <a:t>순서가 뒤바뀐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361688"/>
            <a:ext cx="3794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66707E"/>
                </a:solidFill>
                <a:latin typeface="Malgun Gothic"/>
                <a:ea typeface="Malgun Gothic"/>
              </a:rPr>
              <a:t>ABSTAIN — 추측으로 진행하지 않음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09744"/>
            <a:ext cx="6766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87375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26303F"/>
                </a:solidFill>
                <a:latin typeface="Malgun Gothic"/>
                <a:ea typeface="Malgun Gothic"/>
              </a:rPr>
              <a:t>삭제 후 재시작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873752"/>
            <a:ext cx="3794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66707E"/>
                </a:solidFill>
                <a:latin typeface="Malgun Gothic"/>
                <a:ea typeface="Malgun Gothic"/>
              </a:rPr>
              <a:t>tombstone 유지 — 삭제된 기억이 부활하지 않음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944368"/>
            <a:ext cx="3959352" cy="2377440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spcAft>
                <a:spcPts val="500"/>
              </a:spcAft>
              <a:buNone/>
            </a:pPr>
            <a:r>
              <a:rPr sz="1200" b="1" i="0">
                <a:solidFill>
                  <a:srgbClr val="B8402E"/>
                </a:solidFill>
                <a:latin typeface="Malgun Gothic"/>
                <a:ea typeface="Malgun Gothic"/>
              </a:rPr>
              <a:t>장기·변형에서도 같은 판단 (C4)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role-token 치환 변형(V1): 13단계 판단 동일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주문·반복·reset 장기 변형(V3): 18단계 완주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kill·중복·역순 복합(V4): 26단계, ASK 2회로 안전 유지</a:t>
            </a:r>
          </a:p>
          <a:p>
            <a:pPr algn="l" indent="-164592" marL="164592">
              <a:buClr>
                <a:srgbClr val="E8543F"/>
              </a:buClr>
              <a:buSzPct val="90000"/>
              <a:buFont typeface="Arial"/>
              <a:buChar char="•"/>
            </a:pPr>
            <a:r>
              <a:rPr sz="1050" b="0" i="0">
                <a:solidFill>
                  <a:srgbClr val="26303F"/>
                </a:solidFill>
                <a:latin typeface="Malgun Gothic"/>
                <a:ea typeface="Malgun Gothic"/>
              </a:rPr>
              <a:t>시간 경과 후 지연 평가 도착 → 승인 범위가 다음 주문의 다른 식당 초안을 변경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7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buNone/>
            </a:pPr>
            <a:r>
              <a:rPr sz="1100" b="1" i="0">
                <a:solidFill>
                  <a:srgbClr val="E8543F"/>
                </a:solidFill>
                <a:latin typeface="Malgun Gothic"/>
                <a:ea typeface="Malgun Gothic"/>
              </a:rPr>
              <a:t>제출물 연결  </a:t>
            </a:r>
            <a:r>
              <a:rPr sz="1100" b="0" i="0">
                <a:solidFill>
                  <a:srgbClr val="D8E1EE"/>
                </a:solidFill>
                <a:latin typeface="Malgun Gothic"/>
                <a:ea typeface="Malgun Gothic"/>
              </a:rPr>
              <a:t>SAMPLE_EXPORT = PROBE_RESULT·evidence·RUNTIME_IDENTITY (digest 연쇄·restart epoch·zero-invocation 통과)  ·  DEMO_VIDEO = E1→E4 실기기 시연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SAMPLE_EXPORT/PUBLIC_PROBE_RESULT.json · RC1_RUN_V1~V4 · RC4_PUBLIC_RUN · MetamorphicProbeTest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06 · 검증  ·  C5 실패경계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실패에서 배운 것, 남겨둔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8543F"/>
                </a:solidFill>
                <a:latin typeface="Malgun Gothic"/>
                <a:ea typeface="Malgun Gothic"/>
              </a:rPr>
              <a:t>개발 중 실패 → 설계로 흡수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486400" cy="126187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91440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6303F"/>
                </a:solidFill>
                <a:latin typeface="Malgun Gothic"/>
                <a:ea typeface="Malgun Gothic"/>
              </a:rPr>
              <a:t>오래된 기억의 잘못된 자동화</a:t>
            </a:r>
          </a:p>
          <a:p>
            <a:pPr algn="l">
              <a:lnSpc>
                <a:spcPct val="122000"/>
              </a:lnSpc>
              <a:buNone/>
            </a:pPr>
            <a:r>
              <a:rPr sz="1050" b="0" i="0">
                <a:solidFill>
                  <a:srgbClr val="66707E"/>
                </a:solidFill>
                <a:latin typeface="Malgun Gothic"/>
                <a:ea typeface="Malgun Gothic"/>
              </a:rPr>
              <a:t>저장 취향이 미제공 option까지 채우려 함 → 임의 대체 금지, 해당 field만 NEEDS_CONFIRMATION 전환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5486400" cy="126187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91440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6303F"/>
                </a:solidFill>
                <a:latin typeface="Malgun Gothic"/>
                <a:ea typeface="Malgun Gothic"/>
              </a:rPr>
              <a:t>재시작·중복 event의 이중 기록</a:t>
            </a:r>
          </a:p>
          <a:p>
            <a:pPr algn="l">
              <a:lnSpc>
                <a:spcPct val="122000"/>
              </a:lnSpc>
              <a:buNone/>
            </a:pPr>
            <a:r>
              <a:rPr sz="1050" b="0" i="0">
                <a:solidFill>
                  <a:srgbClr val="66707E"/>
                </a:solidFill>
                <a:latin typeface="Malgun Gothic"/>
                <a:ea typeface="Malgun Gothic"/>
              </a:rPr>
              <a:t>같은 주문이 두 번 기록될 수 있음 → 내용 기반 idempotency key로 기존 action 재사용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80560"/>
            <a:ext cx="5486400" cy="126187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91440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6303F"/>
                </a:solidFill>
                <a:latin typeface="Malgun Gothic"/>
                <a:ea typeface="Malgun Gothic"/>
              </a:rPr>
              <a:t>삭제된 기억의 부활</a:t>
            </a:r>
          </a:p>
          <a:p>
            <a:pPr algn="l">
              <a:lnSpc>
                <a:spcPct val="122000"/>
              </a:lnSpc>
              <a:buNone/>
            </a:pPr>
            <a:r>
              <a:rPr sz="1050" b="0" i="0">
                <a:solidFill>
                  <a:srgbClr val="66707E"/>
                </a:solidFill>
                <a:latin typeface="Malgun Gothic"/>
                <a:ea typeface="Malgun Gothic"/>
              </a:rPr>
              <a:t>export·재시작 경로에서 삭제값 복원 → tombstone으로 부활을 구조적으로 차단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89888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8543F"/>
                </a:solidFill>
                <a:latin typeface="Malgun Gothic"/>
                <a:ea typeface="Malgun Gothic"/>
              </a:rPr>
              <a:t>정직하게 남겨둔 검증 한계 (제출 시점)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3736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B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91440"/>
          <a:lstStyle/>
          <a:p>
            <a:pPr algn="l" indent="-164592" marL="164592">
              <a:lnSpc>
                <a:spcPct val="122000"/>
              </a:lnSpc>
              <a:spcAft>
                <a:spcPts val="5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공식 PRACTICE-B 표면 미실행 — 공개 rehearsal과 자체 변형으로 대체 확인</a:t>
            </a:r>
          </a:p>
          <a:p>
            <a:pPr algn="l" indent="-164592" marL="164592">
              <a:lnSpc>
                <a:spcPct val="122000"/>
              </a:lnSpc>
              <a:spcAft>
                <a:spcPts val="5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full vs claim-off VIL 수치는 기기 실측 전 — 비교 구조와 테스트는 완비</a:t>
            </a:r>
          </a:p>
          <a:p>
            <a:pPr algn="l" indent="-164592" marL="164592">
              <a:lnSpc>
                <a:spcPct val="122000"/>
              </a:lnSpc>
              <a:spcAft>
                <a:spcPts val="5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delayed outcome은 평가 요청 1종만 검증</a:t>
            </a:r>
          </a:p>
          <a:p>
            <a:pPr algn="l" indent="-164592" marL="164592">
              <a:lnSpc>
                <a:spcPct val="122000"/>
              </a:lnSpc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network 4상태 중 공개 입력이 밟는 경로만 Runner로, 나머지는 앱 화면·JVM 테스트로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754880"/>
            <a:ext cx="5074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66707E"/>
                </a:solidFill>
                <a:latin typeface="Malgun Gothic"/>
                <a:ea typeface="Malgun Gothic"/>
              </a:rPr>
              <a:t>한계를 숨기지 않고 anchor 3 이하로 자체 평가했다. 근거 없는 주장을 만들지 않는 것은 ‘불확실하면 다시 확인한다’는 이 제품의 설계 원칙과 같다.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SELF_SCORE_2026-08-04.json · ProductFlowProbeTest · ChatIntakeTest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E8543F"/>
                </a:solidFill>
                <a:latin typeface="Malgun Gothic"/>
                <a:ea typeface="Malgun Gothic"/>
              </a:rPr>
              <a:t>07 · 차별점과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1" i="0">
                <a:solidFill>
                  <a:srgbClr val="26303F"/>
                </a:solidFill>
                <a:latin typeface="Malgun Gothic"/>
                <a:ea typeface="Malgun Gothic"/>
              </a:rPr>
              <a:t>편의성의 인과를 측정 가능하게 만든 것이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66707E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7040880" cy="13716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B8402E"/>
                </a:solidFill>
                <a:latin typeface="Malgun Gothic"/>
                <a:ea typeface="Malgun Gothic"/>
              </a:rPr>
              <a:t>측정 가능한 인과</a:t>
            </a:r>
          </a:p>
          <a:p>
            <a:pPr algn="l">
              <a:lnSpc>
                <a:spcPct val="124000"/>
              </a:lnSpc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기억 기능을 ‘있다’고 주장하지 않고, 같은 APK 안 paired comparison과 VIL로 mechanism의 기여를 관찰 가능하게 설계 (검증 ① 참조)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7040880" cy="13716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B8402E"/>
                </a:solidFill>
                <a:latin typeface="Malgun Gothic"/>
                <a:ea typeface="Malgun Gothic"/>
              </a:rPr>
              <a:t>선택적 repair</a:t>
            </a:r>
          </a:p>
          <a:p>
            <a:pPr algn="l">
              <a:lnSpc>
                <a:spcPct val="124000"/>
              </a:lnSpc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전체 초기화가 아니라 dependency graph 기반으로 파생 필드만 무효화 — 정정·철회·품절·재시작의 영향 범위가 언제나 최소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25696"/>
            <a:ext cx="7040880" cy="13716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B8402E"/>
                </a:solidFill>
                <a:latin typeface="Malgun Gothic"/>
                <a:ea typeface="Malgun Gothic"/>
              </a:rPr>
              <a:t>검증 가능한 구조 자체</a:t>
            </a:r>
          </a:p>
          <a:p>
            <a:pPr algn="l">
              <a:lnSpc>
                <a:spcPct val="124000"/>
              </a:lnSpc>
              <a:buNone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Probe와 제품의 완전한 parity, 화면·export·ledger의 단일 시점, evidence 무결성 검사 — 주장과 산출물이 분리되지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44752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8543F"/>
                </a:solidFill>
                <a:latin typeface="Malgun Gothic"/>
                <a:ea typeface="Malgun Gothic"/>
              </a:rPr>
              <a:t>현재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773936"/>
            <a:ext cx="36118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64592" marL="164592">
              <a:lnSpc>
                <a:spcPct val="120000"/>
              </a:lnSpc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결정적 parser의 표현력 제한 (등록 표현만 이해)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단일 배달 domain의 합성 catalog</a:t>
            </a:r>
          </a:p>
          <a:p>
            <a:pPr algn="l" indent="-164592" marL="164592"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delayed outcome 종류 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520440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8543F"/>
                </a:solidFill>
                <a:latin typeface="Malgun Gothic"/>
                <a:ea typeface="Malgun Gothic"/>
              </a:rPr>
              <a:t>향후 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849624"/>
            <a:ext cx="3611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64592" marL="164592">
              <a:lnSpc>
                <a:spcPct val="120000"/>
              </a:lnSpc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intake 계층에만 온디바이스 소형 LM 결합 — typed fact 계약과 검증 가능성은 유지</a:t>
            </a:r>
          </a:p>
          <a:p>
            <a:pPr algn="l" indent="-164592" marL="164592">
              <a:spcAft>
                <a:spcPts val="400"/>
              </a:spcAft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VIL 실측 자동화·시나리오 확대</a:t>
            </a:r>
          </a:p>
          <a:p>
            <a:pPr algn="l" indent="-164592" marL="164592">
              <a:lnSpc>
                <a:spcPct val="120000"/>
              </a:lnSpc>
              <a:buClr>
                <a:srgbClr val="E8543F"/>
              </a:buClr>
              <a:buSzPct val="90000"/>
              <a:buFont typeface="Arial"/>
              <a:buChar char="•"/>
            </a:pPr>
            <a:r>
              <a:rPr sz="1100" b="0" i="0">
                <a:solidFill>
                  <a:srgbClr val="26303F"/>
                </a:solidFill>
                <a:latin typeface="Malgun Gothic"/>
                <a:ea typeface="Malgun Gothic"/>
              </a:rPr>
              <a:t>catalog 일반화로 다중 domain(장보기·예약 등)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B8402E"/>
                </a:solidFill>
                <a:latin typeface="Malgun Gothic"/>
                <a:ea typeface="Malgun Gothic"/>
              </a:rPr>
              <a:t>근거  </a:t>
            </a:r>
            <a:r>
              <a:rPr sz="950" b="0" i="0">
                <a:solidFill>
                  <a:srgbClr val="66707E"/>
                </a:solidFill>
                <a:latin typeface="Malgun Gothic"/>
                <a:ea typeface="Malgun Gothic"/>
              </a:rPr>
              <a:t>MISSION_AND_TECHNICAL_NOTE §8·§10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600" b="0" i="0">
                <a:solidFill>
                  <a:srgbClr val="D8E1EE"/>
                </a:solidFill>
                <a:latin typeface="Malgun Gothic"/>
                <a:ea typeface="Malgun Gothic"/>
              </a:rPr>
              <a:t>많이 기억하는 에이전트가 아니라,</a:t>
            </a:r>
          </a:p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Malgun Gothic"/>
                <a:ea typeface="Malgun Gothic"/>
              </a:rPr>
              <a:t>지금 유효하고 허용된 기억만 쓰는 에이전트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77639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>
              <a:buNone/>
            </a:pPr>
            <a:r>
              <a:rPr sz="1250" b="1" i="0">
                <a:solidFill>
                  <a:srgbClr val="D8E1EE"/>
                </a:solidFill>
                <a:latin typeface="Malgun Gothic"/>
                <a:ea typeface="Malgun Gothic"/>
              </a:rPr>
              <a:t>ASPR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3977639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>
              <a:buNone/>
            </a:pPr>
            <a:r>
              <a:rPr sz="1250" b="1" i="0">
                <a:solidFill>
                  <a:srgbClr val="D8E1EE"/>
                </a:solidFill>
                <a:latin typeface="Malgun Gothic"/>
                <a:ea typeface="Malgun Gothic"/>
              </a:rPr>
              <a:t>Production Parity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977639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>
              <a:buNone/>
            </a:pPr>
            <a:r>
              <a:rPr sz="1250" b="1" i="0">
                <a:solidFill>
                  <a:srgbClr val="D8E1EE"/>
                </a:solidFill>
                <a:latin typeface="Malgun Gothic"/>
                <a:ea typeface="Malgun Gothic"/>
              </a:rPr>
              <a:t>Evidence 무결성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9AA7BC"/>
                </a:solidFill>
                <a:latin typeface="Malgun Gothic"/>
                <a:ea typeface="Malgun Gothic"/>
              </a:rPr>
              <a:t>모든 주장은 제출물로 재현됩니다 — APP.apk · SOURCE.zip · SAMPLE_EXPORT · DEMO_VIDEO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8B97AB"/>
                </a:solidFill>
                <a:latin typeface="Malgun Gothic"/>
                <a:ea typeface="Malgun Gothic"/>
              </a:rPr>
              <a:t>감사합니다  ·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